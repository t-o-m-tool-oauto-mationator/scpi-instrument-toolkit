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69" r:id="rId20"/>
    <p:sldId id="257" r:id="rId8"/>
    <p:sldId id="258" r:id="rId9"/>
    <p:sldId id="270" r:id="rId21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1" r:id="rId22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esar Magan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14T22:32:42.586">
    <p:pos x="196" y="1911"/>
    <p:text>Show found instrument pictures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398ffc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398ffc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6398ffc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6398ffc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6398ffc9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6398ffc9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6398ffc9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6398ffc9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398ffc95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6398ffc9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398ffc95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6398ffc95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6398ffc9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6398ffc9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6398ffc9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6398ffc9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6398ffc9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6398ffc9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6398ffc9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6398ffc9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6398ffc9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6398ffc9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398ffc9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6398ffc9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T-O-M-Tool-Oauto-Mationator/scpi-instrument-toolkit" TargetMode="Externa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r>
              <a:rPr b="1"/>
              <a:t>STM32 Bridge: An EV2300 Replacement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Keilan Levesque  |  Cesar Magana  |  Brighton Sikarskie</a:t>
            </a:r>
            <a:endParaRPr/>
          </a:p>
          <a:p>
            <a:pPr algn="ctr"/>
            <a:r>
              <a:rPr sz="1400"/>
              <a:t>ESET 453 - Validation and Verification</a:t>
            </a:r>
          </a:p>
          <a:p>
            <a:pPr algn="ctr"/>
            <a:r>
              <a:rPr sz="1400"/>
              <a:t>Texas A&amp;M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Setup: Install the Python Toolkit</a:t>
            </a: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0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600"/>
              <a:t>What the toolkit does</a:t>
            </a:r>
            <a:endParaRPr/>
          </a:p>
          <a:p>
            <a:pPr lvl="1"/>
            <a:r>
              <a:rPr sz="1300">
                <a:latin typeface="Courier New"/>
              </a:rPr>
              <a:t>Controls every BQ76920 EVM + STM32 bridge in the VOAL lab from one REPL.</a:t>
            </a:r>
          </a:p>
          <a:p>
            <a:pPr lvl="1"/>
            <a:r>
              <a:rPr sz="1600"/>
              <a:t>Source (open): github.com/T-O-M-Tool-Oauto-Mationator/scpi-instrument-toolkit</a:t>
            </a:r>
          </a:p>
          <a:p>
            <a:pPr/>
            <a:r>
              <a:rPr b="1" sz="1600"/>
              <a:t>Install on a TAMU-managed Windows machine (no admin rights)</a:t>
            </a:r>
          </a:p>
          <a:p>
            <a:pPr lvl="1"/>
            <a:r>
              <a:rPr sz="1300">
                <a:latin typeface="Courier New"/>
              </a:rPr>
              <a:t>irm "https://raw.githubusercontent.com/T-O-M-Tool-Oauto-Mationator/scpi-instrument-toolkit/main/setup-tamu.ps1" | iex</a:t>
            </a:r>
          </a:p>
          <a:p>
            <a:pPr/>
            <a:r>
              <a:rPr b="1" sz="1600"/>
              <a:t>Install on a personal machine</a:t>
            </a:r>
          </a:p>
          <a:p>
            <a:pPr lvl="1"/>
            <a:r>
              <a:rPr sz="1300">
                <a:latin typeface="Courier New"/>
              </a:rPr>
              <a:t>pip install git+https://github.com/T-O-M-Tool-Oauto-Mationator/scpi-instrument-toolkit.git</a:t>
            </a:r>
          </a:p>
          <a:p>
            <a:pPr/>
            <a:r>
              <a:rPr b="1" sz="1600"/>
              <a:t>Verify</a:t>
            </a:r>
          </a:p>
          <a:p>
            <a:pPr lvl="1"/>
            <a:r>
              <a:rPr sz="1300">
                <a:latin typeface="Courier New"/>
              </a:rPr>
              <a:t>scpi-repl --version   -&gt; should print the current version.</a:t>
            </a: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25" y="3032975"/>
            <a:ext cx="831532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Setup: Physical Connections</a:t>
            </a: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sz="1600"/>
              <a:t>STM32F405 Feather acts as a drop-in EV2300 replacement.</a:t>
            </a:r>
            <a:endParaRPr/>
          </a:p>
          <a:p>
            <a:pPr lvl="1"/>
            <a:r>
              <a:rPr sz="1600"/>
              <a:t>USB-C from the Feather -&gt; host computer.</a:t>
            </a:r>
          </a:p>
          <a:p>
            <a:pPr lvl="1"/>
            <a:r>
              <a:rPr sz="1600"/>
              <a:t>JST pigtail from the adapter -&gt; BQ76920 EVM I2C header.</a:t>
            </a:r>
          </a:p>
          <a:p>
            <a:pPr/>
            <a:r>
              <a:rPr b="1" sz="1600"/>
              <a:t>Wire map (JST side)</a:t>
            </a:r>
          </a:p>
          <a:p>
            <a:pPr lvl="1"/>
            <a:r>
              <a:rPr sz="1300">
                <a:latin typeface="Courier New"/>
              </a:rPr>
              <a:t>Pin 1: 3V3    Pin 2: SDA (yellow)</a:t>
            </a:r>
          </a:p>
          <a:p>
            <a:pPr lvl="1"/>
            <a:r>
              <a:rPr sz="1300">
                <a:latin typeface="Courier New"/>
              </a:rPr>
              <a:t>Pin 3: SCL (blue)    Pin 4: GND</a:t>
            </a:r>
          </a:p>
          <a:p>
            <a:pPr/>
            <a:r>
              <a:rPr b="1" sz="1600"/>
              <a:t>The red ribbon wire on the EVM cable is a NO-CONNECT. Do not route it.</a:t>
            </a:r>
          </a:p>
        </p:txBody>
      </p:sp>
      <p:pic>
        <p:nvPicPr>
          <p:cNvPr id="69" name="Picture 68" descr="IMG_0265_assembl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3716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Check: The REPL Launches and Finds the Bridge</a:t>
            </a: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575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Open PowerShell (Windows) or Terminal (mac/Linux).</a:t>
            </a:r>
            <a:endParaRPr/>
          </a:p>
          <a:p>
            <a:pPr/>
            <a:r>
              <a:rPr sz="1300">
                <a:latin typeface="Courier New"/>
              </a:rPr>
              <a:t>Run:   scpi-repl --no-color</a:t>
            </a:r>
          </a:p>
          <a:p>
            <a:pPr/>
            <a:r>
              <a:rPr b="1" sz="1600"/>
              <a:t>You should see:</a:t>
            </a:r>
          </a:p>
          <a:p>
            <a:pPr lvl="1"/>
            <a:r>
              <a:rPr sz="1300">
                <a:latin typeface="Courier New"/>
              </a:rPr>
              <a:t>[INFO] Scanning for instruments in background...</a:t>
            </a:r>
          </a:p>
          <a:p>
            <a:pPr lvl="1"/>
            <a:r>
              <a:rPr sz="1300">
                <a:latin typeface="Courier New"/>
              </a:rPr>
              <a:t>[SUCCESS] Scan complete: found N device(s).</a:t>
            </a:r>
          </a:p>
          <a:p>
            <a:pPr lvl="1"/>
            <a:r>
              <a:rPr sz="1300">
                <a:latin typeface="Courier New"/>
              </a:rPr>
              <a:t>eset&gt;</a:t>
            </a:r>
          </a:p>
          <a:p>
            <a:pPr/>
            <a:r>
              <a:rPr sz="1600"/>
              <a:t>'ev2300' must appear in the device list (the STM32 bridge enumerates with the same VID/PID as the original EV2300A).</a:t>
            </a:r>
          </a:p>
          <a:p>
            <a:pPr/>
            <a:r>
              <a:rPr sz="1600"/>
              <a:t>If you see 'Skipping ASRL/dev/cu.Bluetooth-Incoming-Port::INSTR (virtual port)' - normal, ignore.</a:t>
            </a: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34575"/>
            <a:ext cx="5639052" cy="17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3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Check: 'help' Lists ev2300 Commands</a:t>
            </a: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575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600"/>
              <a:t>Type 'help' at the eset&gt; prompt.</a:t>
            </a:r>
            <a:endParaRPr/>
          </a:p>
          <a:p>
            <a:pPr/>
            <a:r>
              <a:rPr b="1" sz="1600"/>
              <a:t>Under INSTRUMENTS you should see:</a:t>
            </a:r>
          </a:p>
          <a:p>
            <a:pPr lvl="1"/>
            <a:r>
              <a:rPr sz="1300">
                <a:latin typeface="Courier New"/>
              </a:rPr>
              <a:t>ev2300    scan / read / write / probe (USB-to-I2C bridge)</a:t>
            </a:r>
          </a:p>
          <a:p>
            <a:pPr/>
            <a:r>
              <a:rPr b="1" sz="1600"/>
              <a:t>For the full ev2300 sub-command list:</a:t>
            </a:r>
          </a:p>
          <a:p>
            <a:pPr lvl="1"/>
            <a:r>
              <a:rPr sz="1300">
                <a:latin typeface="Courier New"/>
              </a:rPr>
              <a:t>ev2300            (no args -&gt; prints the sub-command help)</a:t>
            </a:r>
          </a:p>
          <a:p>
            <a:pPr lvl="1"/>
            <a:r>
              <a:rPr sz="1300">
                <a:latin typeface="Courier New"/>
              </a:rPr>
              <a:t>ev2300 info       (prints VID/PID/serial of the connected bridge)</a:t>
            </a: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2450" y="735175"/>
            <a:ext cx="3934976" cy="42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Check: BQ76920 Responds Over I2C</a:t>
            </a: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600"/>
              <a:t>Power-on order (every time)</a:t>
            </a:r>
            <a:endParaRPr/>
          </a:p>
          <a:p>
            <a:pPr lvl="1"/>
            <a:r>
              <a:rPr sz="1600"/>
              <a:t>1. Bench PSU at 18 V -&gt; BQ EVM.</a:t>
            </a:r>
          </a:p>
          <a:p>
            <a:pPr lvl="1"/>
            <a:r>
              <a:rPr sz="1600"/>
              <a:t>2. USB cable -&gt; STM32 bridge.</a:t>
            </a:r>
          </a:p>
          <a:p>
            <a:pPr lvl="1"/>
            <a:r>
              <a:rPr sz="1600"/>
              <a:t>3. Press the BOOT button on the BQ EVM.</a:t>
            </a:r>
          </a:p>
          <a:p>
            <a:pPr/>
            <a:r>
              <a:rPr b="1" sz="1600"/>
              <a:t>Read a known register from the BQ76920</a:t>
            </a:r>
          </a:p>
          <a:p>
            <a:pPr lvl="1"/>
            <a:r>
              <a:rPr sz="1300">
                <a:latin typeface="Courier New"/>
              </a:rPr>
              <a:t>ev2300 read_word 0x08 0x09</a:t>
            </a:r>
          </a:p>
          <a:p>
            <a:pPr/>
            <a:r>
              <a:rPr sz="1600"/>
              <a:t>Expected: 0x0CE4 (3300) or similar - cell-stack voltage in millivolts.</a:t>
            </a:r>
          </a:p>
          <a:p>
            <a:pPr/>
            <a:r>
              <a:rPr sz="1600"/>
              <a:t>Never 0x0000 or 0xFFFF. If you see those, repeat the power-on order above.</a:t>
            </a:r>
          </a:p>
          <a:p>
            <a:pPr/>
            <a:r>
              <a:rPr b="1" sz="1600"/>
              <a:t>Quick 'is the chip alive?' check (scans all 256 registers)</a:t>
            </a:r>
          </a:p>
          <a:p>
            <a:pPr lvl="1"/>
            <a:r>
              <a:rPr sz="1300">
                <a:latin typeface="Courier New"/>
              </a:rPr>
              <a:t>ev2300 scan 0x08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GUI (In Development)</a:t>
            </a: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600"/>
              <a:t>A minimal Tk-based GUI is planned for students who prefer point-and-click over the REPL.</a:t>
            </a:r>
            <a:endParaRPr/>
          </a:p>
          <a:p>
            <a:pPr/>
            <a:r>
              <a:rPr b="1" sz="1600"/>
              <a:t>Planned panels</a:t>
            </a:r>
          </a:p>
          <a:p>
            <a:pPr lvl="1"/>
            <a:r>
              <a:rPr sz="1600"/>
              <a:t>Connection status - VID/PID/serial of the bridge, BQ online/offline LED.</a:t>
            </a:r>
          </a:p>
          <a:p>
            <a:pPr lvl="1"/>
            <a:r>
              <a:rPr sz="1600"/>
              <a:t>Register browser - read/write any BQ76920 register, with name + hex + decimal.</a:t>
            </a:r>
          </a:p>
          <a:p>
            <a:pPr lvl="1"/>
            <a:r>
              <a:rPr sz="1600"/>
              <a:t>Live monitor - pack voltage, cell voltages, current, temperature, stream to CSV.</a:t>
            </a:r>
          </a:p>
          <a:p>
            <a:pPr lvl="1"/>
            <a:r>
              <a:rPr sz="1600"/>
              <a:t>Logger - start/stop logging to the same log file the REPL uses.</a:t>
            </a:r>
          </a:p>
          <a:p>
            <a:pPr/>
            <a:r>
              <a:rPr b="1" sz="1600"/>
              <a:t>Status: not in current release. Track progress on the GitHub issue tracker.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Reading from the BQ (Python)</a:t>
            </a: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600"/>
              <a:t>Use the toolkit's Python API when you need repeatable measurements.</a:t>
            </a:r>
            <a:endParaRPr/>
          </a:p>
          <a:p>
            <a:pPr/>
            <a:r>
              <a:rPr b="1" sz="1600"/>
              <a:t>Minimal example</a:t>
            </a:r>
          </a:p>
          <a:p>
            <a:pPr lvl="1"/>
            <a:r>
              <a:rPr sz="1300">
                <a:latin typeface="Courier New"/>
              </a:rPr>
              <a:t>from lab_instruments.api import Session</a:t>
            </a:r>
          </a:p>
          <a:p>
            <a:pPr lvl="1"/>
            <a:r>
              <a:rPr sz="1300">
                <a:latin typeface="Courier New"/>
              </a:rPr>
              <a:t>with Session() as s:</a:t>
            </a:r>
          </a:p>
          <a:p>
            <a:pPr lvl="1"/>
            <a:r>
              <a:rPr sz="1300">
                <a:latin typeface="Courier New"/>
              </a:rPr>
              <a:t>    ev = s.ev2300</a:t>
            </a:r>
          </a:p>
          <a:p>
            <a:pPr lvl="1"/>
            <a:r>
              <a:rPr sz="1300">
                <a:latin typeface="Courier New"/>
              </a:rPr>
              <a:t>    ev.wait_for_bq(timeout_s=30)        # block until BQ answers</a:t>
            </a:r>
          </a:p>
          <a:p>
            <a:pPr lvl="1"/>
            <a:r>
              <a:rPr sz="1300">
                <a:latin typeface="Courier New"/>
              </a:rPr>
              <a:t>    v_pack = ev.read_word(0x08, 0x09)    # pack voltage, mV</a:t>
            </a:r>
          </a:p>
          <a:p>
            <a:pPr lvl="1"/>
            <a:r>
              <a:rPr sz="1300">
                <a:latin typeface="Courier New"/>
              </a:rPr>
              <a:t>    cc_cfg = ev.read_byte(0x08, 0x0B)    # coulomb-counter cfg</a:t>
            </a:r>
          </a:p>
          <a:p>
            <a:pPr lvl="1"/>
            <a:r>
              <a:rPr sz="1300">
                <a:latin typeface="Courier New"/>
              </a:rPr>
              <a:t>    print(f"V={v_pack} mV, CC_CFG=0x{cc_cfg:02X}")</a:t>
            </a:r>
          </a:p>
          <a:p>
            <a:pPr/>
            <a:r>
              <a:rPr b="1" sz="1600"/>
              <a:t>Why wait_for_bq?</a:t>
            </a:r>
          </a:p>
          <a:p>
            <a:pPr lvl="1"/>
            <a:r>
              <a:rPr sz="1600"/>
              <a:t>The STM32 bridge retries BQ init every 2 s after a failed startup; wait_for_bq polls CC_CFG (reg 0x0B) on both possible addresses until the IC is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Writing to the BQ (Python)</a:t>
            </a: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sz="1600"/>
              <a:t>Write a register, then read back to verify.</a:t>
            </a:r>
            <a:endParaRPr/>
          </a:p>
          <a:p>
            <a:pPr lvl="1"/>
            <a:r>
              <a:rPr sz="1300">
                <a:latin typeface="Courier New"/>
              </a:rPr>
              <a:t>from lab_instruments.api import Session</a:t>
            </a:r>
          </a:p>
          <a:p>
            <a:pPr lvl="1"/>
            <a:r>
              <a:rPr sz="1300">
                <a:latin typeface="Courier New"/>
              </a:rPr>
              <a:t>with Session() as s:</a:t>
            </a:r>
          </a:p>
          <a:p>
            <a:pPr lvl="1"/>
            <a:r>
              <a:rPr sz="1300">
                <a:latin typeface="Courier New"/>
              </a:rPr>
              <a:t>    ev = s.ev2300</a:t>
            </a:r>
          </a:p>
          <a:p>
            <a:pPr lvl="1"/>
            <a:r>
              <a:rPr sz="1300">
                <a:latin typeface="Courier New"/>
              </a:rPr>
              <a:t>    ev.wait_for_bq()</a:t>
            </a:r>
          </a:p>
          <a:p>
            <a:pPr lvl="1"/>
            <a:r>
              <a:rPr sz="1300">
                <a:latin typeface="Courier New"/>
              </a:rPr>
              <a:t>    ev.write_byte(0x08, 0x04, 0x10)      # SYS_CTRL1 = 0x10</a:t>
            </a:r>
          </a:p>
          <a:p>
            <a:pPr lvl="1"/>
            <a:r>
              <a:rPr sz="1300">
                <a:latin typeface="Courier New"/>
              </a:rPr>
              <a:t>    actual = ev.read_byte(0x08, 0x04)</a:t>
            </a:r>
          </a:p>
          <a:p>
            <a:pPr lvl="1"/>
            <a:r>
              <a:rPr sz="1300">
                <a:latin typeface="Courier New"/>
              </a:rPr>
              <a:t>    assert actual == 0x10, f'write failed: got 0x{actual:02X}'</a:t>
            </a:r>
          </a:p>
          <a:p>
            <a:pPr/>
            <a:r>
              <a:rPr b="1" sz="1600"/>
              <a:t>Safety</a:t>
            </a:r>
          </a:p>
          <a:p>
            <a:pPr lvl="1"/>
            <a:r>
              <a:rPr sz="1600"/>
              <a:t>Some BQ registers will brick the chip if you write wrong values (e.g. OTP cmds).</a:t>
            </a:r>
          </a:p>
          <a:p>
            <a:pPr lvl="1"/>
            <a:r>
              <a:rPr sz="1600"/>
              <a:t>Always check the BQ76920 datasheet register table before writing unfamiliar regs.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Reading from the BQ (LabVIEW)</a:t>
            </a: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600"/>
              <a:t>The toolkit ships a LabVIEW bridge VI set in docs/labview.md.</a:t>
            </a:r>
            <a:endParaRPr/>
          </a:p>
          <a:p>
            <a:pPr/>
            <a:r>
              <a:rPr b="1" sz="1600"/>
              <a:t>Wiring to read a BQ register</a:t>
            </a:r>
          </a:p>
          <a:p>
            <a:pPr lvl="1"/>
            <a:r>
              <a:rPr sz="1600"/>
              <a:t>1. Place SCPI Open.vi - target = 'ev2300'.</a:t>
            </a:r>
          </a:p>
          <a:p>
            <a:pPr lvl="1"/>
            <a:r>
              <a:rPr sz="1600"/>
              <a:t>2. Wire into SCPI Read Word.vi with i2c_addr = 0x08, register = 0x09.</a:t>
            </a:r>
          </a:p>
          <a:p>
            <a:pPr lvl="1"/>
            <a:r>
              <a:rPr sz="1600"/>
              <a:t>3. Output (U16) is the raw register value; display in hex + decimal indicators.</a:t>
            </a:r>
          </a:p>
          <a:p>
            <a:pPr lvl="1"/>
            <a:r>
              <a:rPr sz="1600"/>
              <a:t>4. Close with SCPI Close.vi.</a:t>
            </a:r>
          </a:p>
          <a:p>
            <a:pPr/>
            <a:r>
              <a:rPr b="1" sz="1600"/>
              <a:t>TODO: embed the 'ev2300_read_word.vi' front-panel screenshot when it is committed to docs/img/labview/.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Writing to the BQ (LabVIEW)</a:t>
            </a:r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600"/>
              <a:t>Mirror of the read flow with SCPI Write Word.vi / SCPI Write Byte.vi.</a:t>
            </a:r>
            <a:endParaRPr/>
          </a:p>
          <a:p>
            <a:pPr/>
            <a:r>
              <a:rPr b="1" sz="1600"/>
              <a:t>Pattern</a:t>
            </a:r>
          </a:p>
          <a:p>
            <a:pPr lvl="1"/>
            <a:r>
              <a:rPr sz="1600"/>
              <a:t>1. Open -&gt; Write -&gt; Read (verify) -&gt; Close, in a single sequence frame.</a:t>
            </a:r>
          </a:p>
          <a:p>
            <a:pPr lvl="1"/>
            <a:r>
              <a:rPr sz="1600"/>
              <a:t>2. Wire an error-in/error-out chain so a failed write halts the test.</a:t>
            </a:r>
          </a:p>
          <a:p>
            <a:pPr lvl="1"/>
            <a:r>
              <a:rPr sz="1600"/>
              <a:t>3. For block writes, use SCPI Write Block.vi with a U8 array input.</a:t>
            </a:r>
          </a:p>
          <a:p>
            <a:pPr/>
            <a:r>
              <a:rPr b="1" sz="1600"/>
              <a:t>TODO: embed the 'ev2300_write_byte.vi' screenshot once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Reading / Writing to the BQ (TestStand)</a:t>
            </a: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600"/>
              <a:t>TestStand calls the same LabVIEW VIs shown on slides 10-11.</a:t>
            </a:r>
            <a:endParaRPr/>
          </a:p>
          <a:p>
            <a:pPr/>
            <a:r>
              <a:rPr b="1" sz="1600"/>
              <a:t>Sequence skeleton</a:t>
            </a:r>
          </a:p>
          <a:p>
            <a:pPr lvl="1"/>
            <a:r>
              <a:rPr sz="1600"/>
              <a:t>Step 1: LabVIEW Action - SCPI Open.vi (target = 'ev2300').</a:t>
            </a:r>
          </a:p>
          <a:p>
            <a:pPr lvl="1"/>
            <a:r>
              <a:rPr sz="1600"/>
              <a:t>Step 2: Numeric Limit Test - SCPI Read Word.vi, compare to expected pack voltage.</a:t>
            </a:r>
          </a:p>
          <a:p>
            <a:pPr lvl="1"/>
            <a:r>
              <a:rPr sz="1600"/>
              <a:t>Step 3: LabVIEW Action - SCPI Write Byte.vi (config register).</a:t>
            </a:r>
          </a:p>
          <a:p>
            <a:pPr lvl="1"/>
            <a:r>
              <a:rPr sz="1600"/>
              <a:t>Step 4: Numeric Limit Test - SCPI Read Byte.vi, assert the write took effect.</a:t>
            </a:r>
          </a:p>
          <a:p>
            <a:pPr lvl="1"/>
            <a:r>
              <a:rPr sz="1600"/>
              <a:t>Step 5: Cleanup - SCPI Close.vi (Post Action on any step failure).</a:t>
            </a:r>
          </a:p>
          <a:p>
            <a:pPr/>
            <a:r>
              <a:rPr b="1" sz="1600"/>
              <a:t>One REPL connection = one TestStand sequence call. Do not open the adapter twice.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r>
              <a:rPr b="1"/>
              <a:t>Notes for TAs: Adding New Bench Equipment</a:t>
            </a: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sz="1600"/>
              <a:t>Adding support for a new instrument is a four-file PR.</a:t>
            </a:r>
            <a:endParaRPr/>
          </a:p>
          <a:p>
            <a:pPr lvl="1"/>
            <a:r>
              <a:rPr sz="1300">
                <a:latin typeface="Courier New"/>
              </a:rPr>
              <a:t>1. Driver: lab_instruments/src/&lt;inst&gt;.py  (follow the SCPI Driver Contract).</a:t>
            </a:r>
          </a:p>
          <a:p>
            <a:pPr lvl="1"/>
            <a:r>
              <a:rPr sz="1300">
                <a:latin typeface="Courier New"/>
              </a:rPr>
              <a:t>2. REPL handler: lab_instruments/repl/commands/&lt;inst&gt;.py.</a:t>
            </a:r>
          </a:p>
          <a:p>
            <a:pPr lvl="1"/>
            <a:r>
              <a:rPr sz="1300">
                <a:latin typeface="Courier New"/>
              </a:rPr>
              <a:t>3. Tests: tests/test_&lt;inst&gt;_driver.py + tests/test_&lt;inst&gt;_commands.py.</a:t>
            </a:r>
          </a:p>
          <a:p>
            <a:pPr lvl="1"/>
            <a:r>
              <a:rPr sz="1300">
                <a:latin typeface="Courier New"/>
              </a:rPr>
              <a:t>4. Docs: docs/&lt;inst&gt;.md and an entry in mkdocs.yml.</a:t>
            </a:r>
          </a:p>
          <a:p>
            <a:pPr/>
            <a:r>
              <a:rPr b="1" sz="1600"/>
              <a:t>For STM32-bridge-specific work (firmware, hardware build)</a:t>
            </a:r>
          </a:p>
          <a:p>
            <a:pPr lvl="1"/>
            <a:r>
              <a:rPr sz="1600"/>
              <a:t>See TA Developer Guide, Chapter 12 - full BOM, soldering photos, firmware-flash and verification checklist.</a:t>
            </a:r>
          </a:p>
          <a:p>
            <a:pPr/>
            <a:r>
              <a:rPr b="1" sz="1600"/>
              <a:t>General new-driver walkthrough</a:t>
            </a:r>
          </a:p>
          <a:p>
            <a:pPr lvl="1"/>
            <a:r>
              <a:rPr sz="1600"/>
              <a:t>TA Developer Guide, Chapter 3 - Adding a New Instrument Driver.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This Deck Covers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sz="1600"/>
              <a:t>1. Why we replaced the TI EV2300 with an STM32F405 Feather.</a:t>
            </a:r>
          </a:p>
          <a:p>
            <a:pPr/>
            <a:r>
              <a:rPr sz="1600"/>
              <a:t>2. Installing the Python toolkit that drives both bridges.</a:t>
            </a:r>
          </a:p>
          <a:p>
            <a:pPr/>
            <a:r>
              <a:rPr sz="1600"/>
              <a:t>3. Wiring the adapter to the BQ76920 EVM.</a:t>
            </a:r>
          </a:p>
          <a:p>
            <a:pPr/>
            <a:r>
              <a:rPr sz="1600"/>
              <a:t>4. The power-on order that keeps I2C happy.</a:t>
            </a:r>
          </a:p>
          <a:p>
            <a:pPr/>
            <a:r>
              <a:rPr sz="1600"/>
              <a:t>5. Verifying the REPL sees the bridge and the BQ answers.</a:t>
            </a:r>
          </a:p>
          <a:p>
            <a:pPr/>
            <a:r>
              <a:rPr sz="1600"/>
              <a:t>6. Reading and writing BQ registers from Python.</a:t>
            </a:r>
          </a:p>
          <a:p>
            <a:pPr/>
            <a:r>
              <a:rPr sz="1600"/>
              <a:t>7. Doing the same from LabVIEW and TestStand.</a:t>
            </a:r>
          </a:p>
          <a:p>
            <a:pPr/>
            <a:r>
              <a:rPr sz="1600"/>
              <a:t>8. Troubleshooting the common failure modes.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Safety and Power-On Order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 sz="1600"/>
              <a:t>Always power the EVM before plugging in the bridge USB.</a:t>
            </a:r>
          </a:p>
          <a:p>
            <a:pPr lvl="1"/>
            <a:r>
              <a:rPr sz="1600"/>
              <a:t>1. Set bench PSU to 18 V, current limit ~0.5 A.</a:t>
            </a:r>
          </a:p>
          <a:p>
            <a:pPr lvl="1"/>
            <a:r>
              <a:rPr sz="1600"/>
              <a:t>2. Connect PSU to the BQ76920 EVM external power input.</a:t>
            </a:r>
          </a:p>
          <a:p>
            <a:pPr lvl="1"/>
            <a:r>
              <a:rPr sz="1600"/>
              <a:t>3. Turn the PSU on. Confirm the EVM LED lights.</a:t>
            </a:r>
          </a:p>
          <a:p>
            <a:pPr lvl="1"/>
            <a:r>
              <a:rPr sz="1600"/>
              <a:t>4. Plug the STM32 bridge USB-C cable into the host.</a:t>
            </a:r>
          </a:p>
          <a:p>
            <a:pPr lvl="1"/>
            <a:r>
              <a:rPr sz="1600"/>
              <a:t>5. Press the BOOT button on the BQ EVM once.</a:t>
            </a:r>
          </a:p>
          <a:p>
            <a:pPr lvl="1"/>
            <a:r>
              <a:rPr sz="1300">
                <a:latin typeface="Courier New"/>
              </a:rPr>
              <a:t>6. Launch scpi-repl and run 'scan'.</a:t>
            </a:r>
          </a:p>
          <a:p>
            <a:pPr/>
            <a:r>
              <a:rPr b="1" sz="1600"/>
              <a:t>Why this order?</a:t>
            </a:r>
          </a:p>
          <a:p>
            <a:pPr lvl="1"/>
            <a:r>
              <a:rPr sz="1600"/>
              <a:t>The STM32 firmware samples the BQ at boot. If the EVM is unpowered, init fails and the bridge retries every 2 s. Powering EVM first avoids the 30-second dead-start window.</a:t>
            </a:r>
          </a:p>
          <a:p>
            <a:pPr lvl="1"/>
            <a:r>
              <a:rPr sz="1600"/>
              <a:t>Pressing BOOT clears stuck state from the previous student's session.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Troubleshooting Quick 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1" sz="1600"/>
              <a:t>Symptom -&gt; first fix to try</a:t>
            </a:r>
          </a:p>
          <a:p>
            <a:pPr/>
            <a:r>
              <a:rPr b="1" sz="1600"/>
              <a:t>'device error (0x46)' on a read/write</a:t>
            </a:r>
          </a:p>
          <a:p>
            <a:pPr lvl="1"/>
            <a:r>
              <a:rPr sz="1600"/>
              <a:t>Press BOOT on the EVM, then 'disconnect ev2300' + 'scan' in the REPL.</a:t>
            </a:r>
          </a:p>
          <a:p>
            <a:pPr/>
            <a:r>
              <a:rPr b="1" sz="1600"/>
              <a:t>'connect failed' during scan</a:t>
            </a:r>
          </a:p>
          <a:p>
            <a:pPr lvl="1"/>
            <a:r>
              <a:rPr sz="1600"/>
              <a:t>Close BQ Studio / bqStudio - only one program can hold the HID handle.</a:t>
            </a:r>
          </a:p>
          <a:p>
            <a:pPr/>
            <a:r>
              <a:rPr b="1" sz="1600"/>
              <a:t>ev2300 is not in the 'found instrument' list</a:t>
            </a:r>
          </a:p>
          <a:p>
            <a:pPr lvl="1"/>
            <a:r>
              <a:rPr sz="1600"/>
              <a:t>Unplug the USB cable, wait 3 s, plug it back in, then 'scan'.</a:t>
            </a:r>
          </a:p>
          <a:p>
            <a:pPr/>
            <a:r>
              <a:rPr b="1" sz="1600"/>
              <a:t>read_word returns 0xFFFF or 0x0000</a:t>
            </a:r>
          </a:p>
          <a:p>
            <a:pPr lvl="1"/>
            <a:r>
              <a:rPr sz="1600"/>
              <a:t>EVM is unpowered or the BOOT button was not pressed. Redo the power-on order.</a:t>
            </a:r>
          </a:p>
          <a:p>
            <a:pPr/>
            <a:r>
              <a:rPr b="1" sz="1600"/>
              <a:t>Bridge enumerates as 'bootloader mode'</a:t>
            </a:r>
          </a:p>
          <a:p>
            <a:pPr lvl="1"/>
            <a:r>
              <a:rPr sz="1600"/>
              <a:t>Firmware is not flashed. Hand the unit to a TA (see TA Guide Ch. 12).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